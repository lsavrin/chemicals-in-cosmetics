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7"/>
  </p:notes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84671B-CBF8-47B2-B61F-0A16E8DE988D}" v="8" dt="2025-05-02T18:43:28.0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en Savrin" userId="e24388d77256bca3" providerId="LiveId" clId="{BB84671B-CBF8-47B2-B61F-0A16E8DE988D}"/>
    <pc:docChg chg="undo custSel addSld modSld">
      <pc:chgData name="Lauren Savrin" userId="e24388d77256bca3" providerId="LiveId" clId="{BB84671B-CBF8-47B2-B61F-0A16E8DE988D}" dt="2025-05-02T18:46:31.867" v="1198" actId="20577"/>
      <pc:docMkLst>
        <pc:docMk/>
      </pc:docMkLst>
      <pc:sldChg chg="addSp modSp mod">
        <pc:chgData name="Lauren Savrin" userId="e24388d77256bca3" providerId="LiveId" clId="{BB84671B-CBF8-47B2-B61F-0A16E8DE988D}" dt="2025-05-02T18:46:00.899" v="1196" actId="14734"/>
        <pc:sldMkLst>
          <pc:docMk/>
          <pc:sldMk cId="4154607547" sldId="257"/>
        </pc:sldMkLst>
        <pc:spChg chg="add mod">
          <ac:chgData name="Lauren Savrin" userId="e24388d77256bca3" providerId="LiveId" clId="{BB84671B-CBF8-47B2-B61F-0A16E8DE988D}" dt="2025-05-02T18:43:49.076" v="1141" actId="20577"/>
          <ac:spMkLst>
            <pc:docMk/>
            <pc:sldMk cId="4154607547" sldId="257"/>
            <ac:spMk id="3" creationId="{ECD43C35-1235-F719-E52E-3EAD757EE7F2}"/>
          </ac:spMkLst>
        </pc:spChg>
        <pc:graphicFrameChg chg="modGraphic">
          <ac:chgData name="Lauren Savrin" userId="e24388d77256bca3" providerId="LiveId" clId="{BB84671B-CBF8-47B2-B61F-0A16E8DE988D}" dt="2025-05-02T18:46:00.899" v="1196" actId="14734"/>
          <ac:graphicFrameMkLst>
            <pc:docMk/>
            <pc:sldMk cId="4154607547" sldId="257"/>
            <ac:graphicFrameMk id="4" creationId="{75C69184-1CD3-F0F2-6E5A-3209ECDAB72D}"/>
          </ac:graphicFrameMkLst>
        </pc:graphicFrameChg>
      </pc:sldChg>
      <pc:sldChg chg="modSp new mod">
        <pc:chgData name="Lauren Savrin" userId="e24388d77256bca3" providerId="LiveId" clId="{BB84671B-CBF8-47B2-B61F-0A16E8DE988D}" dt="2025-04-28T19:31:34.792" v="297" actId="20577"/>
        <pc:sldMkLst>
          <pc:docMk/>
          <pc:sldMk cId="1908933137" sldId="258"/>
        </pc:sldMkLst>
        <pc:spChg chg="mod">
          <ac:chgData name="Lauren Savrin" userId="e24388d77256bca3" providerId="LiveId" clId="{BB84671B-CBF8-47B2-B61F-0A16E8DE988D}" dt="2025-04-28T19:22:32.367" v="7" actId="20577"/>
          <ac:spMkLst>
            <pc:docMk/>
            <pc:sldMk cId="1908933137" sldId="258"/>
            <ac:spMk id="2" creationId="{AEA40B76-6A0B-C756-2D04-456C06EE2902}"/>
          </ac:spMkLst>
        </pc:spChg>
        <pc:spChg chg="mod">
          <ac:chgData name="Lauren Savrin" userId="e24388d77256bca3" providerId="LiveId" clId="{BB84671B-CBF8-47B2-B61F-0A16E8DE988D}" dt="2025-04-28T19:31:34.792" v="297" actId="20577"/>
          <ac:spMkLst>
            <pc:docMk/>
            <pc:sldMk cId="1908933137" sldId="258"/>
            <ac:spMk id="3" creationId="{726E450B-728E-33DC-1FB7-246283254580}"/>
          </ac:spMkLst>
        </pc:spChg>
      </pc:sldChg>
      <pc:sldChg chg="modSp add mod modNotesTx">
        <pc:chgData name="Lauren Savrin" userId="e24388d77256bca3" providerId="LiveId" clId="{BB84671B-CBF8-47B2-B61F-0A16E8DE988D}" dt="2025-04-29T01:51:26.445" v="612"/>
        <pc:sldMkLst>
          <pc:docMk/>
          <pc:sldMk cId="1488206190" sldId="259"/>
        </pc:sldMkLst>
        <pc:spChg chg="mod">
          <ac:chgData name="Lauren Savrin" userId="e24388d77256bca3" providerId="LiveId" clId="{BB84671B-CBF8-47B2-B61F-0A16E8DE988D}" dt="2025-04-28T19:32:04.975" v="305" actId="20577"/>
          <ac:spMkLst>
            <pc:docMk/>
            <pc:sldMk cId="1488206190" sldId="259"/>
            <ac:spMk id="2" creationId="{D37DD48F-2069-D89B-73E6-D1CE538426B4}"/>
          </ac:spMkLst>
        </pc:spChg>
        <pc:graphicFrameChg chg="mod modGraphic">
          <ac:chgData name="Lauren Savrin" userId="e24388d77256bca3" providerId="LiveId" clId="{BB84671B-CBF8-47B2-B61F-0A16E8DE988D}" dt="2025-04-29T01:51:26.445" v="612"/>
          <ac:graphicFrameMkLst>
            <pc:docMk/>
            <pc:sldMk cId="1488206190" sldId="259"/>
            <ac:graphicFrameMk id="4" creationId="{35823E2B-C567-2A26-E60C-EC087140D9B9}"/>
          </ac:graphicFrameMkLst>
        </pc:graphicFrameChg>
      </pc:sldChg>
      <pc:sldChg chg="modSp add mod">
        <pc:chgData name="Lauren Savrin" userId="e24388d77256bca3" providerId="LiveId" clId="{BB84671B-CBF8-47B2-B61F-0A16E8DE988D}" dt="2025-05-02T18:46:31.867" v="1198" actId="20577"/>
        <pc:sldMkLst>
          <pc:docMk/>
          <pc:sldMk cId="4227408383" sldId="260"/>
        </pc:sldMkLst>
        <pc:spChg chg="mod">
          <ac:chgData name="Lauren Savrin" userId="e24388d77256bca3" providerId="LiveId" clId="{BB84671B-CBF8-47B2-B61F-0A16E8DE988D}" dt="2025-04-29T01:51:51.046" v="617" actId="20577"/>
          <ac:spMkLst>
            <pc:docMk/>
            <pc:sldMk cId="4227408383" sldId="260"/>
            <ac:spMk id="2" creationId="{3C0C9D53-419A-A57B-0ECD-439ADAB9335A}"/>
          </ac:spMkLst>
        </pc:spChg>
        <pc:graphicFrameChg chg="mod modGraphic">
          <ac:chgData name="Lauren Savrin" userId="e24388d77256bca3" providerId="LiveId" clId="{BB84671B-CBF8-47B2-B61F-0A16E8DE988D}" dt="2025-05-02T18:46:31.867" v="1198" actId="20577"/>
          <ac:graphicFrameMkLst>
            <pc:docMk/>
            <pc:sldMk cId="4227408383" sldId="260"/>
            <ac:graphicFrameMk id="4" creationId="{FAA519D1-02E3-C5C8-1B34-5B43D86640AB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C1CE73-684D-4B81-BD4D-98EEE1BE0DB5}" type="datetimeFigureOut">
              <a:rPr lang="en-US" smtClean="0"/>
              <a:t>4/29/2025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9D4A50-1D1A-4580-8B96-C04F340F16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229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*: make sure SQL insert makes sense. Took a lot of effort.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9D4A50-1D1A-4580-8B96-C04F340F166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010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DAC80-692D-D742-A6F2-D8E6280E5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EE9D33-824E-8B1B-8CA3-D9568C7766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0DCA47-2D53-CACF-E955-F5D752991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*: make sure SQL insert makes sense. Took a lot of effort.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2577A-E98E-F36F-3956-26B2225A47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9D4A50-1D1A-4580-8B96-C04F340F166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47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184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312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0525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576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917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772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897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915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549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11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7270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4/29/2025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583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bstract smoke background">
            <a:extLst>
              <a:ext uri="{FF2B5EF4-FFF2-40B4-BE49-F238E27FC236}">
                <a16:creationId xmlns:a16="http://schemas.microsoft.com/office/drawing/2014/main" id="{60C8F7D0-0409-1C1F-C70F-638D1B6B97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13068" b="10035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122AB34F-E75C-451A-8410-05B6C249E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879050-6FC4-5372-6EAB-35DCAE8852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8061" y="914400"/>
            <a:ext cx="4892948" cy="3427867"/>
          </a:xfrm>
        </p:spPr>
        <p:txBody>
          <a:bodyPr anchor="t"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Query Comparison: SQL Server vs MongoDB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2D225E-4395-6311-5E78-25B7EB2107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9835" y="5253051"/>
            <a:ext cx="4941173" cy="812923"/>
          </a:xfrm>
        </p:spPr>
        <p:txBody>
          <a:bodyPr anchor="t"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CS779 Final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Lauren Savrin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5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47111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40B76-6A0B-C756-2D04-456C06EE2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E450B-728E-33DC-1FB7-246283254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How many times does each chemical show up in our dataset?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What is the average spend based for each store type?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What is the average spend for each category?</a:t>
            </a:r>
          </a:p>
          <a:p>
            <a:pPr lvl="1"/>
            <a:r>
              <a:rPr lang="en-US" dirty="0"/>
              <a:t>Will require joining the two datasets</a:t>
            </a:r>
          </a:p>
          <a:p>
            <a:pPr lvl="1"/>
            <a:r>
              <a:rPr lang="en-US" dirty="0"/>
              <a:t>Alternative: What is the average cost for each chemical?</a:t>
            </a:r>
          </a:p>
          <a:p>
            <a:pPr marL="722376" lvl="1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933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A637580D-1176-4083-A9A1-BD8ED08996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DB180F-4DA1-D8BC-433E-4CA012679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0152" cy="1139911"/>
          </a:xfrm>
        </p:spPr>
        <p:txBody>
          <a:bodyPr>
            <a:normAutofit/>
          </a:bodyPr>
          <a:lstStyle/>
          <a:p>
            <a:r>
              <a:rPr lang="en-US" dirty="0"/>
              <a:t>Run Time Comparison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9C96FDC-E4C2-7D8A-44BA-572E7CD9E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1585" y="1027306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5C69184-1CD3-F0F2-6E5A-3209ECDAB7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5445016"/>
              </p:ext>
            </p:extLst>
          </p:nvPr>
        </p:nvGraphicFramePr>
        <p:xfrm>
          <a:off x="1168026" y="2607561"/>
          <a:ext cx="9855948" cy="3690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3107">
                  <a:extLst>
                    <a:ext uri="{9D8B030D-6E8A-4147-A177-3AD203B41FA5}">
                      <a16:colId xmlns:a16="http://schemas.microsoft.com/office/drawing/2014/main" val="3079589837"/>
                    </a:ext>
                  </a:extLst>
                </a:gridCol>
                <a:gridCol w="2954867">
                  <a:extLst>
                    <a:ext uri="{9D8B030D-6E8A-4147-A177-3AD203B41FA5}">
                      <a16:colId xmlns:a16="http://schemas.microsoft.com/office/drawing/2014/main" val="1123601680"/>
                    </a:ext>
                  </a:extLst>
                </a:gridCol>
                <a:gridCol w="2463987">
                  <a:extLst>
                    <a:ext uri="{9D8B030D-6E8A-4147-A177-3AD203B41FA5}">
                      <a16:colId xmlns:a16="http://schemas.microsoft.com/office/drawing/2014/main" val="2169900509"/>
                    </a:ext>
                  </a:extLst>
                </a:gridCol>
                <a:gridCol w="2463987">
                  <a:extLst>
                    <a:ext uri="{9D8B030D-6E8A-4147-A177-3AD203B41FA5}">
                      <a16:colId xmlns:a16="http://schemas.microsoft.com/office/drawing/2014/main" val="2901551233"/>
                    </a:ext>
                  </a:extLst>
                </a:gridCol>
              </a:tblGrid>
              <a:tr h="612302">
                <a:tc>
                  <a:txBody>
                    <a:bodyPr/>
                    <a:lstStyle/>
                    <a:p>
                      <a:r>
                        <a:rPr lang="en-US" sz="1600"/>
                        <a:t>Query</a:t>
                      </a:r>
                    </a:p>
                  </a:txBody>
                  <a:tcPr marL="82743" marR="82743" marT="41372" marB="41372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SQL Server (CPU/Elapsed)</a:t>
                      </a:r>
                    </a:p>
                  </a:txBody>
                  <a:tcPr marL="82743" marR="82743" marT="41372" marB="41372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MongoDB (Documents)</a:t>
                      </a:r>
                    </a:p>
                  </a:txBody>
                  <a:tcPr marL="82743" marR="82743" marT="41372" marB="41372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MongoDB (Embedded)</a:t>
                      </a:r>
                    </a:p>
                  </a:txBody>
                  <a:tcPr marL="82743" marR="82743" marT="41372" marB="41372"/>
                </a:tc>
                <a:extLst>
                  <a:ext uri="{0D108BD9-81ED-4DB2-BD59-A6C34878D82A}">
                    <a16:rowId xmlns:a16="http://schemas.microsoft.com/office/drawing/2014/main" val="4053242119"/>
                  </a:ext>
                </a:extLst>
              </a:tr>
              <a:tr h="860532">
                <a:tc>
                  <a:txBody>
                    <a:bodyPr/>
                    <a:lstStyle/>
                    <a:p>
                      <a:r>
                        <a:rPr lang="en-US" sz="1600"/>
                        <a:t>1: Chemical Instance Count</a:t>
                      </a:r>
                    </a:p>
                  </a:txBody>
                  <a:tcPr marL="82743" marR="82743" marT="41372" marB="41372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Compile:0ms</a:t>
                      </a:r>
                    </a:p>
                    <a:p>
                      <a:r>
                        <a:rPr lang="en-US" sz="1600" dirty="0"/>
                        <a:t>Execution: 0ms/14-18ms*</a:t>
                      </a:r>
                    </a:p>
                  </a:txBody>
                  <a:tcPr marL="82743" marR="82743" marT="41372" marB="41372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Collscan: 50-75ms</a:t>
                      </a:r>
                    </a:p>
                    <a:p>
                      <a:r>
                        <a:rPr lang="en-US" sz="1600"/>
                        <a:t>Group: 20-30ms</a:t>
                      </a:r>
                    </a:p>
                    <a:p>
                      <a:r>
                        <a:rPr lang="en-US" sz="1600"/>
                        <a:t>Total:80-110ms</a:t>
                      </a:r>
                    </a:p>
                  </a:txBody>
                  <a:tcPr marL="82743" marR="82743" marT="41372" marB="41372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N/A</a:t>
                      </a:r>
                    </a:p>
                  </a:txBody>
                  <a:tcPr marL="82743" marR="82743" marT="41372" marB="41372"/>
                </a:tc>
                <a:extLst>
                  <a:ext uri="{0D108BD9-81ED-4DB2-BD59-A6C34878D82A}">
                    <a16:rowId xmlns:a16="http://schemas.microsoft.com/office/drawing/2014/main" val="534723860"/>
                  </a:ext>
                </a:extLst>
              </a:tr>
              <a:tr h="1108762">
                <a:tc>
                  <a:txBody>
                    <a:bodyPr/>
                    <a:lstStyle/>
                    <a:p>
                      <a:r>
                        <a:rPr lang="en-US" sz="1600"/>
                        <a:t>2: Average Total Spend by Store Type</a:t>
                      </a:r>
                    </a:p>
                  </a:txBody>
                  <a:tcPr marL="82743" marR="82743" marT="41372" marB="41372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Compile:0ms</a:t>
                      </a:r>
                    </a:p>
                    <a:p>
                      <a:r>
                        <a:rPr lang="en-US" sz="1600" dirty="0"/>
                        <a:t>Execution: 30-50ms/35-55ms*</a:t>
                      </a:r>
                    </a:p>
                  </a:txBody>
                  <a:tcPr marL="82743" marR="82743" marT="41372" marB="41372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Collscan: 5-10ms</a:t>
                      </a:r>
                    </a:p>
                    <a:p>
                      <a:r>
                        <a:rPr lang="en-US" sz="1600"/>
                        <a:t>Group: 10-20ms</a:t>
                      </a:r>
                    </a:p>
                    <a:p>
                      <a:r>
                        <a:rPr lang="en-US" sz="1600"/>
                        <a:t>Group: 0-1ms</a:t>
                      </a:r>
                    </a:p>
                    <a:p>
                      <a:r>
                        <a:rPr lang="en-US" sz="1600"/>
                        <a:t>Total: 15-30ms</a:t>
                      </a:r>
                    </a:p>
                  </a:txBody>
                  <a:tcPr marL="82743" marR="82743" marT="41372" marB="41372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Collscan: 0ms</a:t>
                      </a:r>
                    </a:p>
                    <a:p>
                      <a:r>
                        <a:rPr lang="en-US" sz="1600"/>
                        <a:t>Projection: 0ms</a:t>
                      </a:r>
                    </a:p>
                    <a:p>
                      <a:r>
                        <a:rPr lang="en-US" sz="1600"/>
                        <a:t>Total: 9-10ms</a:t>
                      </a:r>
                    </a:p>
                  </a:txBody>
                  <a:tcPr marL="82743" marR="82743" marT="41372" marB="41372"/>
                </a:tc>
                <a:extLst>
                  <a:ext uri="{0D108BD9-81ED-4DB2-BD59-A6C34878D82A}">
                    <a16:rowId xmlns:a16="http://schemas.microsoft.com/office/drawing/2014/main" val="3386763768"/>
                  </a:ext>
                </a:extLst>
              </a:tr>
              <a:tr h="1108762">
                <a:tc>
                  <a:txBody>
                    <a:bodyPr/>
                    <a:lstStyle/>
                    <a:p>
                      <a:r>
                        <a:rPr lang="en-US" sz="1600"/>
                        <a:t>3: Average spend by Category</a:t>
                      </a:r>
                    </a:p>
                  </a:txBody>
                  <a:tcPr marL="82743" marR="82743" marT="41372" marB="41372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Compile:0ms</a:t>
                      </a:r>
                    </a:p>
                    <a:p>
                      <a:r>
                        <a:rPr lang="en-US" sz="1600" dirty="0"/>
                        <a:t>Execution: 45-80ms/55-85ms*</a:t>
                      </a:r>
                    </a:p>
                  </a:txBody>
                  <a:tcPr marL="82743" marR="82743" marT="41372" marB="41372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Collscan: 10-20ms</a:t>
                      </a:r>
                    </a:p>
                    <a:p>
                      <a:r>
                        <a:rPr lang="en-US" sz="1600"/>
                        <a:t>Group: 0ms</a:t>
                      </a:r>
                    </a:p>
                    <a:p>
                      <a:r>
                        <a:rPr lang="en-US" sz="1600"/>
                        <a:t>Total:10-20ms</a:t>
                      </a:r>
                    </a:p>
                    <a:p>
                      <a:endParaRPr lang="en-US" sz="1600"/>
                    </a:p>
                  </a:txBody>
                  <a:tcPr marL="82743" marR="82743" marT="41372" marB="41372"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Collscan</a:t>
                      </a:r>
                      <a:r>
                        <a:rPr lang="en-US" sz="1600" dirty="0"/>
                        <a:t>: 0ms</a:t>
                      </a:r>
                    </a:p>
                    <a:p>
                      <a:r>
                        <a:rPr lang="en-US" sz="1600" dirty="0"/>
                        <a:t>Projection: 0ms</a:t>
                      </a:r>
                    </a:p>
                    <a:p>
                      <a:r>
                        <a:rPr lang="en-US" sz="1600" dirty="0"/>
                        <a:t>Total: 25-40ms</a:t>
                      </a:r>
                    </a:p>
                    <a:p>
                      <a:endParaRPr lang="en-US" sz="1600" dirty="0"/>
                    </a:p>
                  </a:txBody>
                  <a:tcPr marL="82743" marR="82743" marT="41372" marB="41372"/>
                </a:tc>
                <a:extLst>
                  <a:ext uri="{0D108BD9-81ED-4DB2-BD59-A6C34878D82A}">
                    <a16:rowId xmlns:a16="http://schemas.microsoft.com/office/drawing/2014/main" val="233444397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CD43C35-1235-F719-E52E-3EAD757EE7F2}"/>
              </a:ext>
            </a:extLst>
          </p:cNvPr>
          <p:cNvSpPr txBox="1"/>
          <p:nvPr/>
        </p:nvSpPr>
        <p:spPr>
          <a:xfrm>
            <a:off x="1168026" y="6383867"/>
            <a:ext cx="7569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After initial run to load data into the buffer and avoid disk pulls</a:t>
            </a:r>
          </a:p>
        </p:txBody>
      </p:sp>
    </p:spTree>
    <p:extLst>
      <p:ext uri="{BB962C8B-B14F-4D97-AF65-F5344CB8AC3E}">
        <p14:creationId xmlns:p14="http://schemas.microsoft.com/office/powerpoint/2010/main" val="4154607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E857D1-AD7F-6924-2AE5-259541019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6CB7D74-2D23-8E5A-07C6-B56500DAC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7DD48F-2069-D89B-73E6-D1CE53842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0152" cy="1139911"/>
          </a:xfrm>
        </p:spPr>
        <p:txBody>
          <a:bodyPr>
            <a:normAutofit/>
          </a:bodyPr>
          <a:lstStyle/>
          <a:p>
            <a:r>
              <a:rPr lang="en-US" dirty="0"/>
              <a:t>Output Comparison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AB5E068-954A-8ED5-89D6-0945C417EA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1585" y="1027306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5823E2B-C567-2A26-E60C-EC087140D9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7147194"/>
              </p:ext>
            </p:extLst>
          </p:nvPr>
        </p:nvGraphicFramePr>
        <p:xfrm>
          <a:off x="1168026" y="2607561"/>
          <a:ext cx="9855948" cy="3690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987">
                  <a:extLst>
                    <a:ext uri="{9D8B030D-6E8A-4147-A177-3AD203B41FA5}">
                      <a16:colId xmlns:a16="http://schemas.microsoft.com/office/drawing/2014/main" val="3079589837"/>
                    </a:ext>
                  </a:extLst>
                </a:gridCol>
                <a:gridCol w="2463987">
                  <a:extLst>
                    <a:ext uri="{9D8B030D-6E8A-4147-A177-3AD203B41FA5}">
                      <a16:colId xmlns:a16="http://schemas.microsoft.com/office/drawing/2014/main" val="1123601680"/>
                    </a:ext>
                  </a:extLst>
                </a:gridCol>
                <a:gridCol w="2463987">
                  <a:extLst>
                    <a:ext uri="{9D8B030D-6E8A-4147-A177-3AD203B41FA5}">
                      <a16:colId xmlns:a16="http://schemas.microsoft.com/office/drawing/2014/main" val="2169900509"/>
                    </a:ext>
                  </a:extLst>
                </a:gridCol>
                <a:gridCol w="2463987">
                  <a:extLst>
                    <a:ext uri="{9D8B030D-6E8A-4147-A177-3AD203B41FA5}">
                      <a16:colId xmlns:a16="http://schemas.microsoft.com/office/drawing/2014/main" val="2901551233"/>
                    </a:ext>
                  </a:extLst>
                </a:gridCol>
              </a:tblGrid>
              <a:tr h="612302">
                <a:tc>
                  <a:txBody>
                    <a:bodyPr/>
                    <a:lstStyle/>
                    <a:p>
                      <a:r>
                        <a:rPr lang="en-US" sz="1600"/>
                        <a:t>Query</a:t>
                      </a:r>
                    </a:p>
                  </a:txBody>
                  <a:tcPr marL="82743" marR="82743" marT="41372" marB="41372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SQL Server (CPU/Elapsed)</a:t>
                      </a:r>
                    </a:p>
                  </a:txBody>
                  <a:tcPr marL="82743" marR="82743" marT="41372" marB="41372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MongoDB (Documents)</a:t>
                      </a:r>
                    </a:p>
                  </a:txBody>
                  <a:tcPr marL="82743" marR="82743" marT="41372" marB="41372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MongoDB (Embedded)</a:t>
                      </a:r>
                    </a:p>
                  </a:txBody>
                  <a:tcPr marL="82743" marR="82743" marT="41372" marB="41372"/>
                </a:tc>
                <a:extLst>
                  <a:ext uri="{0D108BD9-81ED-4DB2-BD59-A6C34878D82A}">
                    <a16:rowId xmlns:a16="http://schemas.microsoft.com/office/drawing/2014/main" val="4053242119"/>
                  </a:ext>
                </a:extLst>
              </a:tr>
              <a:tr h="860532">
                <a:tc>
                  <a:txBody>
                    <a:bodyPr/>
                    <a:lstStyle/>
                    <a:p>
                      <a:r>
                        <a:rPr lang="en-US" sz="1600" dirty="0"/>
                        <a:t>1: Chemical Instance Count *</a:t>
                      </a:r>
                    </a:p>
                  </a:txBody>
                  <a:tcPr marL="82743" marR="82743" marT="41372" marB="41372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123 rows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Titanium Dioxide is dominant (84k)</a:t>
                      </a:r>
                    </a:p>
                  </a:txBody>
                  <a:tcPr marL="82743" marR="82743" marT="41372" marB="41372"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123 Documents</a:t>
                      </a:r>
                    </a:p>
                    <a:p>
                      <a:r>
                        <a:rPr lang="en-US" sz="1600" b="0" dirty="0"/>
                        <a:t>Titanium Dioxide is dominant (92k)</a:t>
                      </a:r>
                    </a:p>
                  </a:txBody>
                  <a:tcPr marL="82743" marR="82743" marT="41372" marB="41372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N/A</a:t>
                      </a:r>
                    </a:p>
                  </a:txBody>
                  <a:tcPr marL="82743" marR="82743" marT="41372" marB="41372"/>
                </a:tc>
                <a:extLst>
                  <a:ext uri="{0D108BD9-81ED-4DB2-BD59-A6C34878D82A}">
                    <a16:rowId xmlns:a16="http://schemas.microsoft.com/office/drawing/2014/main" val="534723860"/>
                  </a:ext>
                </a:extLst>
              </a:tr>
              <a:tr h="1108762">
                <a:tc>
                  <a:txBody>
                    <a:bodyPr/>
                    <a:lstStyle/>
                    <a:p>
                      <a:r>
                        <a:rPr lang="en-US" sz="1600" dirty="0"/>
                        <a:t>2: Average Total Spend by Store Type **</a:t>
                      </a:r>
                    </a:p>
                  </a:txBody>
                  <a:tcPr marL="82743" marR="82743" marT="41372" marB="41372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 rows</a:t>
                      </a:r>
                    </a:p>
                    <a:p>
                      <a:r>
                        <a:rPr lang="en-US" sz="1600" dirty="0"/>
                        <a:t>Range from $162 to $172</a:t>
                      </a:r>
                    </a:p>
                    <a:p>
                      <a:r>
                        <a:rPr lang="en-US" sz="1600" dirty="0"/>
                        <a:t>Required a view to correctly access the </a:t>
                      </a:r>
                    </a:p>
                  </a:txBody>
                  <a:tcPr marL="82743" marR="82743" marT="41372" marB="41372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 rows</a:t>
                      </a:r>
                    </a:p>
                    <a:p>
                      <a:r>
                        <a:rPr lang="en-US" sz="1600" dirty="0"/>
                        <a:t>Range from $162 to $172</a:t>
                      </a:r>
                    </a:p>
                    <a:p>
                      <a:endParaRPr lang="en-US" sz="1600" dirty="0"/>
                    </a:p>
                  </a:txBody>
                  <a:tcPr marL="82743" marR="82743" marT="41372" marB="41372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 rows</a:t>
                      </a:r>
                    </a:p>
                    <a:p>
                      <a:r>
                        <a:rPr lang="en-US" sz="1600" dirty="0"/>
                        <a:t>Range from $162 to $172</a:t>
                      </a:r>
                    </a:p>
                    <a:p>
                      <a:endParaRPr lang="en-US" sz="1600" dirty="0"/>
                    </a:p>
                  </a:txBody>
                  <a:tcPr marL="82743" marR="82743" marT="41372" marB="41372"/>
                </a:tc>
                <a:extLst>
                  <a:ext uri="{0D108BD9-81ED-4DB2-BD59-A6C34878D82A}">
                    <a16:rowId xmlns:a16="http://schemas.microsoft.com/office/drawing/2014/main" val="3386763768"/>
                  </a:ext>
                </a:extLst>
              </a:tr>
              <a:tr h="1108762">
                <a:tc>
                  <a:txBody>
                    <a:bodyPr/>
                    <a:lstStyle/>
                    <a:p>
                      <a:r>
                        <a:rPr lang="en-US" sz="1600" dirty="0"/>
                        <a:t>3: Average spend by Category</a:t>
                      </a:r>
                    </a:p>
                  </a:txBody>
                  <a:tcPr marL="82743" marR="82743" marT="41372" marB="41372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13 rows</a:t>
                      </a:r>
                    </a:p>
                    <a:p>
                      <a:r>
                        <a:rPr lang="en-US" sz="1600" dirty="0"/>
                        <a:t>Range from $36 to $70, with majority in the $40s</a:t>
                      </a:r>
                    </a:p>
                  </a:txBody>
                  <a:tcPr marL="82743" marR="82743" marT="41372" marB="41372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13 rows</a:t>
                      </a:r>
                    </a:p>
                    <a:p>
                      <a:r>
                        <a:rPr lang="en-US" sz="1600" dirty="0"/>
                        <a:t>Range from $36 to $70, with majority in the $40s</a:t>
                      </a:r>
                    </a:p>
                    <a:p>
                      <a:endParaRPr lang="en-US" sz="1600" dirty="0"/>
                    </a:p>
                  </a:txBody>
                  <a:tcPr marL="82743" marR="82743" marT="41372" marB="41372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13 rows</a:t>
                      </a:r>
                    </a:p>
                    <a:p>
                      <a:r>
                        <a:rPr lang="en-US" sz="1600" dirty="0"/>
                        <a:t>Range from $36 to $70, with majority in the $40s</a:t>
                      </a:r>
                    </a:p>
                    <a:p>
                      <a:endParaRPr lang="en-US" sz="1600" dirty="0"/>
                    </a:p>
                  </a:txBody>
                  <a:tcPr marL="82743" marR="82743" marT="41372" marB="41372"/>
                </a:tc>
                <a:extLst>
                  <a:ext uri="{0D108BD9-81ED-4DB2-BD59-A6C34878D82A}">
                    <a16:rowId xmlns:a16="http://schemas.microsoft.com/office/drawing/2014/main" val="2334443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8206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638F43-F9FC-4133-DDFF-8D45D5331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1F62CC4-5676-7761-B7F6-C284F890D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0C9D53-419A-A57B-0ECD-439ADAB93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0152" cy="1139911"/>
          </a:xfrm>
        </p:spPr>
        <p:txBody>
          <a:bodyPr>
            <a:normAutofit/>
          </a:bodyPr>
          <a:lstStyle/>
          <a:p>
            <a:r>
              <a:rPr lang="en-US" dirty="0"/>
              <a:t>Code Comparison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BADB1C4-3AAD-F190-5E99-E6927D939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1585" y="1027306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AA519D1-02E3-C5C8-1B34-5B43D86640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1700029"/>
              </p:ext>
            </p:extLst>
          </p:nvPr>
        </p:nvGraphicFramePr>
        <p:xfrm>
          <a:off x="1168026" y="2607561"/>
          <a:ext cx="9855948" cy="36903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987">
                  <a:extLst>
                    <a:ext uri="{9D8B030D-6E8A-4147-A177-3AD203B41FA5}">
                      <a16:colId xmlns:a16="http://schemas.microsoft.com/office/drawing/2014/main" val="3079589837"/>
                    </a:ext>
                  </a:extLst>
                </a:gridCol>
                <a:gridCol w="2463987">
                  <a:extLst>
                    <a:ext uri="{9D8B030D-6E8A-4147-A177-3AD203B41FA5}">
                      <a16:colId xmlns:a16="http://schemas.microsoft.com/office/drawing/2014/main" val="1123601680"/>
                    </a:ext>
                  </a:extLst>
                </a:gridCol>
                <a:gridCol w="2463987">
                  <a:extLst>
                    <a:ext uri="{9D8B030D-6E8A-4147-A177-3AD203B41FA5}">
                      <a16:colId xmlns:a16="http://schemas.microsoft.com/office/drawing/2014/main" val="2169900509"/>
                    </a:ext>
                  </a:extLst>
                </a:gridCol>
                <a:gridCol w="2463987">
                  <a:extLst>
                    <a:ext uri="{9D8B030D-6E8A-4147-A177-3AD203B41FA5}">
                      <a16:colId xmlns:a16="http://schemas.microsoft.com/office/drawing/2014/main" val="2901551233"/>
                    </a:ext>
                  </a:extLst>
                </a:gridCol>
              </a:tblGrid>
              <a:tr h="612302">
                <a:tc>
                  <a:txBody>
                    <a:bodyPr/>
                    <a:lstStyle/>
                    <a:p>
                      <a:r>
                        <a:rPr lang="en-US" sz="1600"/>
                        <a:t>Query</a:t>
                      </a:r>
                    </a:p>
                  </a:txBody>
                  <a:tcPr marL="82743" marR="82743" marT="41372" marB="41372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SQL Server (CPU/Elapsed)</a:t>
                      </a:r>
                    </a:p>
                  </a:txBody>
                  <a:tcPr marL="82743" marR="82743" marT="41372" marB="41372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MongoDB (Documents)</a:t>
                      </a:r>
                    </a:p>
                  </a:txBody>
                  <a:tcPr marL="82743" marR="82743" marT="41372" marB="41372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MongoDB (Embedded)</a:t>
                      </a:r>
                    </a:p>
                  </a:txBody>
                  <a:tcPr marL="82743" marR="82743" marT="41372" marB="41372"/>
                </a:tc>
                <a:extLst>
                  <a:ext uri="{0D108BD9-81ED-4DB2-BD59-A6C34878D82A}">
                    <a16:rowId xmlns:a16="http://schemas.microsoft.com/office/drawing/2014/main" val="4053242119"/>
                  </a:ext>
                </a:extLst>
              </a:tr>
              <a:tr h="860532">
                <a:tc>
                  <a:txBody>
                    <a:bodyPr/>
                    <a:lstStyle/>
                    <a:p>
                      <a:r>
                        <a:rPr lang="en-US" sz="1600" dirty="0"/>
                        <a:t>1: Chemical Instance Count *</a:t>
                      </a:r>
                    </a:p>
                  </a:txBody>
                  <a:tcPr marL="82743" marR="82743" marT="41372" marB="41372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6-7 lines of code</a:t>
                      </a:r>
                    </a:p>
                    <a:p>
                      <a:r>
                        <a:rPr lang="en-US" sz="1600" dirty="0"/>
                        <a:t>1 Join</a:t>
                      </a:r>
                    </a:p>
                  </a:txBody>
                  <a:tcPr marL="82743" marR="82743" marT="41372" marB="41372"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Group: 3 line</a:t>
                      </a:r>
                    </a:p>
                    <a:p>
                      <a:r>
                        <a:rPr lang="en-US" sz="1600" b="0" dirty="0"/>
                        <a:t>Sort: 1 line</a:t>
                      </a:r>
                    </a:p>
                  </a:txBody>
                  <a:tcPr marL="82743" marR="82743" marT="41372" marB="41372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N/A</a:t>
                      </a:r>
                    </a:p>
                  </a:txBody>
                  <a:tcPr marL="82743" marR="82743" marT="41372" marB="41372"/>
                </a:tc>
                <a:extLst>
                  <a:ext uri="{0D108BD9-81ED-4DB2-BD59-A6C34878D82A}">
                    <a16:rowId xmlns:a16="http://schemas.microsoft.com/office/drawing/2014/main" val="534723860"/>
                  </a:ext>
                </a:extLst>
              </a:tr>
              <a:tr h="1108762">
                <a:tc>
                  <a:txBody>
                    <a:bodyPr/>
                    <a:lstStyle/>
                    <a:p>
                      <a:r>
                        <a:rPr lang="en-US" sz="1600" dirty="0"/>
                        <a:t>2: Average Total Spend by Store Type **</a:t>
                      </a:r>
                    </a:p>
                  </a:txBody>
                  <a:tcPr marL="82743" marR="82743" marT="41372" marB="41372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 View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/>
                        <a:t>10 lines of code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600" dirty="0"/>
                        <a:t>4 Joins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600" dirty="0"/>
                        <a:t>7-8 lines of code</a:t>
                      </a:r>
                    </a:p>
                  </a:txBody>
                  <a:tcPr marL="82743" marR="82743" marT="41372" marB="41372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Group: 5 lines</a:t>
                      </a:r>
                    </a:p>
                    <a:p>
                      <a:r>
                        <a:rPr lang="en-US" sz="1600" dirty="0"/>
                        <a:t>Group: 3 lines</a:t>
                      </a:r>
                    </a:p>
                    <a:p>
                      <a:r>
                        <a:rPr lang="en-US" sz="1600" dirty="0"/>
                        <a:t>Sort: 1 line</a:t>
                      </a:r>
                    </a:p>
                  </a:txBody>
                  <a:tcPr marL="82743" marR="82743" marT="41372" marB="41372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Unwind: 1 line</a:t>
                      </a:r>
                    </a:p>
                    <a:p>
                      <a:r>
                        <a:rPr lang="en-US" sz="1600" dirty="0"/>
                        <a:t>Project: 3 lines</a:t>
                      </a:r>
                    </a:p>
                    <a:p>
                      <a:r>
                        <a:rPr lang="en-US" sz="1600" dirty="0"/>
                        <a:t>Group: 3 lines</a:t>
                      </a:r>
                    </a:p>
                    <a:p>
                      <a:r>
                        <a:rPr lang="en-US" sz="1600" dirty="0"/>
                        <a:t>Sort: 1 line</a:t>
                      </a:r>
                    </a:p>
                  </a:txBody>
                  <a:tcPr marL="82743" marR="82743" marT="41372" marB="41372"/>
                </a:tc>
                <a:extLst>
                  <a:ext uri="{0D108BD9-81ED-4DB2-BD59-A6C34878D82A}">
                    <a16:rowId xmlns:a16="http://schemas.microsoft.com/office/drawing/2014/main" val="3386763768"/>
                  </a:ext>
                </a:extLst>
              </a:tr>
              <a:tr h="1108762">
                <a:tc>
                  <a:txBody>
                    <a:bodyPr/>
                    <a:lstStyle/>
                    <a:p>
                      <a:r>
                        <a:rPr lang="en-US" sz="1600" dirty="0"/>
                        <a:t>3: Average spend by Category</a:t>
                      </a:r>
                    </a:p>
                  </a:txBody>
                  <a:tcPr marL="82743" marR="82743" marT="41372" marB="41372"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</a:t>
                      </a:r>
                      <a:r>
                        <a:rPr lang="en-US" sz="1600" dirty="0"/>
                        <a:t>1</a:t>
                      </a:r>
                      <a:r>
                        <a:rPr lang="en-US" sz="1600"/>
                        <a:t> </a:t>
                      </a:r>
                      <a:r>
                        <a:rPr lang="en-US" sz="1600" dirty="0"/>
                        <a:t>lines of code</a:t>
                      </a:r>
                    </a:p>
                    <a:p>
                      <a:r>
                        <a:rPr lang="en-US" sz="1600" dirty="0"/>
                        <a:t>5 Joins</a:t>
                      </a:r>
                    </a:p>
                  </a:txBody>
                  <a:tcPr marL="82743" marR="82743" marT="41372" marB="41372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Group: 3 lines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Sort: 1 line</a:t>
                      </a:r>
                    </a:p>
                    <a:p>
                      <a:endParaRPr lang="en-US" sz="1600" dirty="0"/>
                    </a:p>
                  </a:txBody>
                  <a:tcPr marL="82743" marR="82743" marT="41372" marB="41372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Unwind: 1 line</a:t>
                      </a:r>
                    </a:p>
                    <a:p>
                      <a:r>
                        <a:rPr lang="en-US" sz="1600" dirty="0"/>
                        <a:t>Unwind: 1 line</a:t>
                      </a:r>
                    </a:p>
                    <a:p>
                      <a:r>
                        <a:rPr lang="en-US" sz="1600" dirty="0"/>
                        <a:t>Group: 3 lines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Sort: 1 line</a:t>
                      </a:r>
                    </a:p>
                  </a:txBody>
                  <a:tcPr marL="82743" marR="82743" marT="41372" marB="41372"/>
                </a:tc>
                <a:extLst>
                  <a:ext uri="{0D108BD9-81ED-4DB2-BD59-A6C34878D82A}">
                    <a16:rowId xmlns:a16="http://schemas.microsoft.com/office/drawing/2014/main" val="2334443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7408383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5629</TotalTime>
  <Words>490</Words>
  <Application>Microsoft Office PowerPoint</Application>
  <PresentationFormat>Widescreen</PresentationFormat>
  <Paragraphs>102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Grandview Display</vt:lpstr>
      <vt:lpstr>DashVTI</vt:lpstr>
      <vt:lpstr>Query Comparison: SQL Server vs MongoDB</vt:lpstr>
      <vt:lpstr>Queries</vt:lpstr>
      <vt:lpstr>Run Time Comparison</vt:lpstr>
      <vt:lpstr>Output Comparison</vt:lpstr>
      <vt:lpstr>Code Comparison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Lauren Savrin</dc:creator>
  <cp:lastModifiedBy>Lauren Savrin</cp:lastModifiedBy>
  <cp:revision>1</cp:revision>
  <dcterms:created xsi:type="dcterms:W3CDTF">2025-04-28T18:50:53Z</dcterms:created>
  <dcterms:modified xsi:type="dcterms:W3CDTF">2025-05-02T18:46:34Z</dcterms:modified>
</cp:coreProperties>
</file>